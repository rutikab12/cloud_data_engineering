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329" r:id="rId5"/>
    <p:sldId id="33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8DED3-8C2A-415B-8884-03D7AB23727B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BFB1D-4246-4A4C-B358-A05CA02BA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2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634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42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6D50-934D-4050-BE17-1FD79EE8B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C716C-ADC8-4408-BAA1-14E58F4E2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47F2-554D-4209-8DF7-E0F453FD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A5B40-F08E-4E63-AC39-475A855B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AA044-6424-453A-8325-1BB1460F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2032-3E0C-4FDD-9EC4-A3663297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E9CB-0172-44F5-8DFA-B1D4CB0E3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48E7A-4A2C-4BCF-B0B5-25DE596B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A1D63-0334-4A67-AA5D-36D8A9B5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F8290-602B-460B-B371-E9C4550C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0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0A3A-6032-4389-878B-9665A9E6B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D49CA-4FBC-4272-A170-F33A53D87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296B6-3165-4716-BA30-1705F4FD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788F0-BA73-4F76-A3E2-54AF2AA6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A9E14-E08B-4E82-BF05-3679867C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8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1A05-1CBD-4321-BCF5-D00D8CFC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A81B-29E0-494D-8A28-D00324604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A44D6-419C-4611-97DB-E8177AD67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C8C77-7BF1-466C-9052-242455B2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4E846-7400-40CC-952B-52FB857A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087B9-E64E-4529-9FA0-391BC436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1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548C-756E-467C-BE2B-0AC7C4B7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7DCB5-1161-47AF-A4BB-70D040A6B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4D8B6-E135-4D1B-A910-BB5A96B4A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27BD2-85E7-4ABF-A298-41EA12410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4AF1D6-5B20-42E4-ACA3-FD6655904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158C1-41BD-4457-AE1C-547EFE7B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CF459-6E36-4865-B533-FF3B1896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4E23B0-98CA-4650-BC3B-C6F2EBB2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92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4F3A-7182-480C-A3FB-CA1E1526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8E2D7-8582-4D42-B46A-227BD71F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71E4F-D019-48D0-8EFD-86A83158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C11DF-EA78-484F-A142-A1F45E82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6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B5C9E-7AD2-4066-9803-DA4E4D07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1C0B1-F863-410D-8360-62A0FA1B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C4B3F-5277-4A65-B4A6-58DD0A2E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8A189-812D-479F-92BF-33A7C095E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FD10-ADB8-4157-97C2-91632166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C2C3D-CF5A-4BDD-98EE-DBD1A7433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65972-6F0D-40AF-A295-D773693D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856FD-F7F2-45B3-9D7F-D99C2801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40E33-EFDD-4458-A682-620F9522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0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FBE8-6CAA-4D5C-B959-23B67B48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F861F8-85A6-4E5F-B6B4-61105A2FA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B6ECB-1324-4A6A-9DD5-48698973F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8179D-F9CD-4A3A-A70F-E1D1C793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5D162-9019-4371-92BE-6B2BEB12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9E470-18AA-4FF5-8F1A-4B03F49C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8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D3857-AD4F-490B-9693-5950A2A0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78666-E0E9-4ECB-B74A-013971A10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CAEEB-5FE3-4465-A017-367EDF32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C847E-9D08-44A9-B968-07522DA6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CCA87-8C18-428B-AC86-D5F27271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2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91A75-A7B4-491A-90A7-DB8655062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DAB9E-031A-42ED-8408-7D87A32DF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CCC9A-894D-4D5C-802F-59B76CD8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7E780-E105-4267-A91D-28356F39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1D55A-A692-40DC-AB60-E082D055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17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5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8DE7A4-EE1C-4994-B665-65108D30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67F1-BD1D-46C0-A56D-CC53C6A2D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8A378-47EF-43B7-9AF1-BA363B82F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41405-5637-4586-B501-C750998AA775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790D2-C647-4EF1-859B-A54B06327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025C2-4DC7-4E51-8D71-6C2EA476B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16660-1695-441F-9997-247138E4B96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699574231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43FCBDBE-144D-479A-9D46-4AA296D95F8C}"/>
              </a:ext>
            </a:extLst>
          </p:cNvPr>
          <p:cNvSpPr txBox="1"/>
          <p:nvPr userDrawn="1"/>
        </p:nvSpPr>
        <p:spPr>
          <a:xfrm>
            <a:off x="0" y="6646927"/>
            <a:ext cx="619703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324428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hyperlink" Target="https://www.linkedin.com/learning/advanced-bigquery/making-the-most-of-bigquery?autoplay=true&amp;u=2037052" TargetMode="Externa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learning/learning-bigquery/introducing-bigquery?autoplay=true&amp;u=2037052" TargetMode="External"/><Relationship Id="rId5" Type="http://schemas.openxmlformats.org/officeDocument/2006/relationships/hyperlink" Target="https://www.linkedin.com/learning/power-bi-data-visualization-and-dashboard-tips-tricks-techniques?u=2037052" TargetMode="External"/><Relationship Id="rId4" Type="http://schemas.openxmlformats.org/officeDocument/2006/relationships/hyperlink" Target="https://www.linkedin.com/learning/google-cloud-platform-gcp-essential-training-for-developers/kicking-off-your-gcp-development?autoplay=true&amp;u=2037052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hyperlink" Target="https://stripedata-my.sharepoint.com/personal/srinivas_d_stripedata_onmicrosoft_com/_layouts/15/onedrive.aspx?ga=1&amp;id=%2Fpersonal%2Fsrinivas%5Fd%5Fstripedata%5Fonmicrosoft%5Fcom%2FDocuments%2FCompleted%2FGCP%20Cloud%20Data%20Fusion%20%28CDAP%29%20%2D%20Feb%2D26%2D2022%2DFeb%2D27%2D2022%20%2D%20Suraj%2FRecordings%20GCP%20Data%20Fusion%20Feb%2D26%2D22%20ToFeb%2D27%2D22%20%2D%20Trainer%20Suraj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DDD8C0-AF20-4214-A111-9B12A8FDF9F7}"/>
              </a:ext>
            </a:extLst>
          </p:cNvPr>
          <p:cNvGrpSpPr/>
          <p:nvPr/>
        </p:nvGrpSpPr>
        <p:grpSpPr>
          <a:xfrm>
            <a:off x="480909" y="872699"/>
            <a:ext cx="11268424" cy="1699584"/>
            <a:chOff x="540819" y="1103876"/>
            <a:chExt cx="6696612" cy="1430847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F13D846-718B-4C47-BEE6-F7F37163AA30}"/>
                </a:ext>
              </a:extLst>
            </p:cNvPr>
            <p:cNvSpPr/>
            <p:nvPr/>
          </p:nvSpPr>
          <p:spPr>
            <a:xfrm>
              <a:off x="806792" y="1103876"/>
              <a:ext cx="317418" cy="285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08">
                <a:defRPr/>
              </a:pPr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CP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15115D-2FB3-49F2-AC10-03CF7CF2BA25}"/>
                </a:ext>
              </a:extLst>
            </p:cNvPr>
            <p:cNvSpPr/>
            <p:nvPr/>
          </p:nvSpPr>
          <p:spPr>
            <a:xfrm>
              <a:off x="807200" y="1323162"/>
              <a:ext cx="6430231" cy="1211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08">
                <a:lnSpc>
                  <a:spcPct val="140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  <a:cs typeface="Calibri" panose="020F0502020204030204" pitchFamily="34" charset="0"/>
                </a:rPr>
                <a:t>GCP -  Essential Training for Developers.</a:t>
              </a:r>
              <a:endParaRPr lang="en-US" sz="1600" dirty="0">
                <a:cs typeface="Calibri" panose="020F0502020204030204" pitchFamily="34" charset="0"/>
              </a:endParaRPr>
            </a:p>
            <a:p>
              <a:pPr defTabSz="1219108">
                <a:lnSpc>
                  <a:spcPct val="140000"/>
                </a:lnSpc>
                <a:defRPr/>
              </a:pPr>
              <a:r>
                <a:rPr lang="en-US" sz="1600" dirty="0">
                  <a:hlinkClick r:id="rId4"/>
                </a:rPr>
                <a:t>Kicking off your GCP development (linkedin.com)</a:t>
              </a:r>
              <a:r>
                <a:rPr lang="en-US" sz="1600" dirty="0"/>
                <a:t> 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defTabSz="1219108">
                <a:lnSpc>
                  <a:spcPct val="140000"/>
                </a:lnSpc>
                <a:defRPr/>
              </a:pPr>
              <a:endParaRPr lang="en-US" sz="1600" dirty="0">
                <a:cs typeface="Calibri" panose="020F0502020204030204" pitchFamily="34" charset="0"/>
              </a:endParaRPr>
            </a:p>
            <a:p>
              <a:pPr defTabSz="1219108">
                <a:lnSpc>
                  <a:spcPct val="140000"/>
                </a:lnSpc>
                <a:defRPr/>
              </a:pPr>
              <a:r>
                <a:rPr lang="en-US" sz="1600" b="0" i="0" u="sng" strike="noStrike" dirty="0">
                  <a:solidFill>
                    <a:srgbClr val="0563C1"/>
                  </a:solidFill>
                  <a:effectLst/>
                  <a:latin typeface="Calibri" panose="020F0502020204030204" pitchFamily="34" charset="0"/>
                  <a:hlinkClick r:id="rId5"/>
                </a:rPr>
                <a:t>https://www.linkedin.com/learning/power-bi-data-visualization-and-dashboard-tips-tricks-techniques?u=2037052</a:t>
              </a:r>
              <a:r>
                <a:rPr lang="en-US" sz="1600" dirty="0"/>
                <a:t> 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78A2E89-4DB8-4D94-8CB7-877B536CDC2A}"/>
                </a:ext>
              </a:extLst>
            </p:cNvPr>
            <p:cNvGrpSpPr/>
            <p:nvPr/>
          </p:nvGrpSpPr>
          <p:grpSpPr>
            <a:xfrm>
              <a:off x="540819" y="1170657"/>
              <a:ext cx="167623" cy="142838"/>
              <a:chOff x="14722901" y="8920529"/>
              <a:chExt cx="348861" cy="297279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28295197-005C-4A99-A097-51C01BC2C802}"/>
                  </a:ext>
                </a:extLst>
              </p:cNvPr>
              <p:cNvSpPr/>
              <p:nvPr/>
            </p:nvSpPr>
            <p:spPr>
              <a:xfrm>
                <a:off x="14722901" y="8959441"/>
                <a:ext cx="258370" cy="258367"/>
              </a:xfrm>
              <a:prstGeom prst="rect">
                <a:avLst/>
              </a:prstGeom>
              <a:noFill/>
              <a:ln w="9525">
                <a:solidFill>
                  <a:srgbClr val="25292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  <p:sp>
            <p:nvSpPr>
              <p:cNvPr id="118" name="Freeform 64">
                <a:extLst>
                  <a:ext uri="{FF2B5EF4-FFF2-40B4-BE49-F238E27FC236}">
                    <a16:creationId xmlns:a16="http://schemas.microsoft.com/office/drawing/2014/main" id="{F5C5854F-4243-4E16-88E4-2028E1881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6432" y="8920529"/>
                <a:ext cx="325330" cy="267157"/>
              </a:xfrm>
              <a:custGeom>
                <a:avLst/>
                <a:gdLst>
                  <a:gd name="T0" fmla="*/ 31 w 229"/>
                  <a:gd name="T1" fmla="*/ 83 h 187"/>
                  <a:gd name="T2" fmla="*/ 73 w 229"/>
                  <a:gd name="T3" fmla="*/ 125 h 187"/>
                  <a:gd name="T4" fmla="*/ 198 w 229"/>
                  <a:gd name="T5" fmla="*/ 0 h 187"/>
                  <a:gd name="T6" fmla="*/ 229 w 229"/>
                  <a:gd name="T7" fmla="*/ 31 h 187"/>
                  <a:gd name="T8" fmla="*/ 73 w 229"/>
                  <a:gd name="T9" fmla="*/ 187 h 187"/>
                  <a:gd name="T10" fmla="*/ 41 w 229"/>
                  <a:gd name="T11" fmla="*/ 155 h 187"/>
                  <a:gd name="T12" fmla="*/ 0 w 229"/>
                  <a:gd name="T13" fmla="*/ 114 h 187"/>
                  <a:gd name="T14" fmla="*/ 31 w 229"/>
                  <a:gd name="T15" fmla="*/ 8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9" h="187">
                    <a:moveTo>
                      <a:pt x="31" y="83"/>
                    </a:moveTo>
                    <a:cubicBezTo>
                      <a:pt x="73" y="125"/>
                      <a:pt x="73" y="125"/>
                      <a:pt x="73" y="125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29" y="31"/>
                      <a:pt x="229" y="31"/>
                      <a:pt x="229" y="31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64" y="178"/>
                      <a:pt x="53" y="168"/>
                      <a:pt x="41" y="155"/>
                    </a:cubicBezTo>
                    <a:cubicBezTo>
                      <a:pt x="29" y="143"/>
                      <a:pt x="16" y="130"/>
                      <a:pt x="0" y="114"/>
                    </a:cubicBezTo>
                    <a:lnTo>
                      <a:pt x="31" y="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D17EA9-32B3-4794-B14C-287C2CEAE258}"/>
              </a:ext>
            </a:extLst>
          </p:cNvPr>
          <p:cNvGrpSpPr/>
          <p:nvPr/>
        </p:nvGrpSpPr>
        <p:grpSpPr>
          <a:xfrm>
            <a:off x="499934" y="2660576"/>
            <a:ext cx="11241862" cy="1746275"/>
            <a:chOff x="540824" y="1912792"/>
            <a:chExt cx="4610258" cy="1309707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82F8367-2C9F-4077-84A3-3F73A830B086}"/>
                </a:ext>
              </a:extLst>
            </p:cNvPr>
            <p:cNvSpPr/>
            <p:nvPr/>
          </p:nvSpPr>
          <p:spPr>
            <a:xfrm>
              <a:off x="716563" y="1912792"/>
              <a:ext cx="3995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08">
                <a:defRPr/>
              </a:pPr>
              <a:r>
                <a:rPr lang="en-US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BigQuery</a:t>
              </a:r>
              <a:endParaRPr 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34F8D3-8B50-46C2-9846-0726629766B3}"/>
                </a:ext>
              </a:extLst>
            </p:cNvPr>
            <p:cNvSpPr/>
            <p:nvPr/>
          </p:nvSpPr>
          <p:spPr>
            <a:xfrm>
              <a:off x="716563" y="2143165"/>
              <a:ext cx="4434519" cy="107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08">
                <a:lnSpc>
                  <a:spcPct val="140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  <a:latin typeface="Calibri" panose="020F0502020204030204" pitchFamily="34" charset="0"/>
                </a:rPr>
                <a:t>Learning </a:t>
              </a:r>
              <a:r>
                <a: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BigQuery</a:t>
              </a:r>
              <a:endPara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  <a:p>
              <a:pPr defTabSz="1219108">
                <a:lnSpc>
                  <a:spcPct val="140000"/>
                </a:lnSpc>
                <a:defRPr/>
              </a:pPr>
              <a:r>
                <a:rPr lang="en-US" sz="1600" dirty="0">
                  <a:hlinkClick r:id="rId6"/>
                </a:rPr>
                <a:t>Introducing </a:t>
              </a:r>
              <a:r>
                <a:rPr lang="en-US" sz="1600" dirty="0" err="1">
                  <a:hlinkClick r:id="rId6"/>
                </a:rPr>
                <a:t>BigQuery</a:t>
              </a:r>
              <a:r>
                <a:rPr lang="en-US" sz="1600" dirty="0">
                  <a:hlinkClick r:id="rId6"/>
                </a:rPr>
                <a:t> (linkedin.com)</a:t>
              </a:r>
              <a:r>
                <a:rPr lang="en-US" sz="1600" dirty="0"/>
                <a:t> </a:t>
              </a:r>
            </a:p>
            <a:p>
              <a:pPr defTabSz="1219108">
                <a:lnSpc>
                  <a:spcPct val="140000"/>
                </a:lnSpc>
                <a:defRPr/>
              </a:pPr>
              <a:r>
                <a:rPr lang="en-US" sz="1600" b="0" i="0" u="none" strike="noStrike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Advanced SQL</a:t>
              </a:r>
              <a:r>
                <a:rPr lang="en-US" sz="1600" dirty="0"/>
                <a:t> </a:t>
              </a:r>
            </a:p>
            <a:p>
              <a:pPr defTabSz="1219108">
                <a:lnSpc>
                  <a:spcPct val="140000"/>
                </a:lnSpc>
                <a:defRPr/>
              </a:pPr>
              <a:r>
                <a:rPr lang="en-US" sz="1600" dirty="0">
                  <a:hlinkClick r:id="rId7"/>
                </a:rPr>
                <a:t>Making the most of </a:t>
              </a:r>
              <a:r>
                <a:rPr lang="en-US" sz="1600" dirty="0" err="1">
                  <a:hlinkClick r:id="rId7"/>
                </a:rPr>
                <a:t>BigQuery</a:t>
              </a:r>
              <a:r>
                <a:rPr lang="en-US" sz="1600" dirty="0">
                  <a:hlinkClick r:id="rId7"/>
                </a:rPr>
                <a:t> (linkedin.com)</a:t>
              </a:r>
              <a:r>
                <a:rPr lang="en-US" sz="1600" dirty="0"/>
                <a:t> 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8B36433-2FF9-4DAD-8A64-95743451DC7B}"/>
                </a:ext>
              </a:extLst>
            </p:cNvPr>
            <p:cNvGrpSpPr/>
            <p:nvPr/>
          </p:nvGrpSpPr>
          <p:grpSpPr>
            <a:xfrm>
              <a:off x="540824" y="1977678"/>
              <a:ext cx="124144" cy="128441"/>
              <a:chOff x="14722872" y="7809083"/>
              <a:chExt cx="258371" cy="267314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6938B0E-A235-4FBF-B97D-C5174F138D2D}"/>
                  </a:ext>
                </a:extLst>
              </p:cNvPr>
              <p:cNvSpPr/>
              <p:nvPr/>
            </p:nvSpPr>
            <p:spPr>
              <a:xfrm>
                <a:off x="14722872" y="7818028"/>
                <a:ext cx="258371" cy="258369"/>
              </a:xfrm>
              <a:prstGeom prst="rect">
                <a:avLst/>
              </a:prstGeom>
              <a:noFill/>
              <a:ln w="9525">
                <a:solidFill>
                  <a:srgbClr val="25292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  <p:sp>
            <p:nvSpPr>
              <p:cNvPr id="116" name="Freeform 64">
                <a:extLst>
                  <a:ext uri="{FF2B5EF4-FFF2-40B4-BE49-F238E27FC236}">
                    <a16:creationId xmlns:a16="http://schemas.microsoft.com/office/drawing/2014/main" id="{65B1D434-0FA8-4E9A-B48F-14A0A5C6B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6425" y="7809083"/>
                <a:ext cx="154705" cy="258369"/>
              </a:xfrm>
              <a:custGeom>
                <a:avLst/>
                <a:gdLst>
                  <a:gd name="T0" fmla="*/ 31 w 229"/>
                  <a:gd name="T1" fmla="*/ 83 h 187"/>
                  <a:gd name="T2" fmla="*/ 73 w 229"/>
                  <a:gd name="T3" fmla="*/ 125 h 187"/>
                  <a:gd name="T4" fmla="*/ 198 w 229"/>
                  <a:gd name="T5" fmla="*/ 0 h 187"/>
                  <a:gd name="T6" fmla="*/ 229 w 229"/>
                  <a:gd name="T7" fmla="*/ 31 h 187"/>
                  <a:gd name="T8" fmla="*/ 73 w 229"/>
                  <a:gd name="T9" fmla="*/ 187 h 187"/>
                  <a:gd name="T10" fmla="*/ 41 w 229"/>
                  <a:gd name="T11" fmla="*/ 155 h 187"/>
                  <a:gd name="T12" fmla="*/ 0 w 229"/>
                  <a:gd name="T13" fmla="*/ 114 h 187"/>
                  <a:gd name="T14" fmla="*/ 31 w 229"/>
                  <a:gd name="T15" fmla="*/ 8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9" h="187">
                    <a:moveTo>
                      <a:pt x="31" y="83"/>
                    </a:moveTo>
                    <a:cubicBezTo>
                      <a:pt x="73" y="125"/>
                      <a:pt x="73" y="125"/>
                      <a:pt x="73" y="125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29" y="31"/>
                      <a:pt x="229" y="31"/>
                      <a:pt x="229" y="31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64" y="178"/>
                      <a:pt x="53" y="168"/>
                      <a:pt x="41" y="155"/>
                    </a:cubicBezTo>
                    <a:cubicBezTo>
                      <a:pt x="29" y="143"/>
                      <a:pt x="16" y="130"/>
                      <a:pt x="0" y="114"/>
                    </a:cubicBezTo>
                    <a:lnTo>
                      <a:pt x="31" y="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CF0B1C-A598-4C03-A960-F576D249FF14}"/>
              </a:ext>
            </a:extLst>
          </p:cNvPr>
          <p:cNvGrpSpPr/>
          <p:nvPr/>
        </p:nvGrpSpPr>
        <p:grpSpPr>
          <a:xfrm>
            <a:off x="480832" y="4544733"/>
            <a:ext cx="11498835" cy="723727"/>
            <a:chOff x="540786" y="3111795"/>
            <a:chExt cx="4041417" cy="542796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A6F67-6C96-4487-9CBA-1A5FB94AB417}"/>
                </a:ext>
              </a:extLst>
            </p:cNvPr>
            <p:cNvSpPr/>
            <p:nvPr/>
          </p:nvSpPr>
          <p:spPr>
            <a:xfrm>
              <a:off x="698112" y="3111795"/>
              <a:ext cx="649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08">
                <a:defRPr/>
              </a:pPr>
              <a:endParaRPr 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FE595C-0A85-4841-9326-A1C23689688E}"/>
                </a:ext>
              </a:extLst>
            </p:cNvPr>
            <p:cNvSpPr/>
            <p:nvPr/>
          </p:nvSpPr>
          <p:spPr>
            <a:xfrm>
              <a:off x="698112" y="3350853"/>
              <a:ext cx="3884091" cy="303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08">
                <a:lnSpc>
                  <a:spcPct val="140000"/>
                </a:lnSpc>
                <a:defRPr/>
              </a:pPr>
              <a:endParaRPr lang="en-US" sz="1600" dirty="0"/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CB0FF1D-B299-483D-A5E7-C0C90776544B}"/>
                </a:ext>
              </a:extLst>
            </p:cNvPr>
            <p:cNvGrpSpPr/>
            <p:nvPr/>
          </p:nvGrpSpPr>
          <p:grpSpPr>
            <a:xfrm>
              <a:off x="540786" y="3134879"/>
              <a:ext cx="124143" cy="189027"/>
              <a:chOff x="14722901" y="8824400"/>
              <a:chExt cx="258370" cy="393408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57A83139-A518-4709-ABC1-F1A14AD99E4A}"/>
                  </a:ext>
                </a:extLst>
              </p:cNvPr>
              <p:cNvSpPr/>
              <p:nvPr/>
            </p:nvSpPr>
            <p:spPr>
              <a:xfrm>
                <a:off x="14722901" y="8959441"/>
                <a:ext cx="258370" cy="258367"/>
              </a:xfrm>
              <a:prstGeom prst="rect">
                <a:avLst/>
              </a:prstGeom>
              <a:noFill/>
              <a:ln w="9525">
                <a:solidFill>
                  <a:srgbClr val="25292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  <p:sp>
            <p:nvSpPr>
              <p:cNvPr id="114" name="Freeform 64">
                <a:extLst>
                  <a:ext uri="{FF2B5EF4-FFF2-40B4-BE49-F238E27FC236}">
                    <a16:creationId xmlns:a16="http://schemas.microsoft.com/office/drawing/2014/main" id="{6BDD6F12-7652-418E-ABE3-BA7DD7A02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6444" y="8824400"/>
                <a:ext cx="221430" cy="363285"/>
              </a:xfrm>
              <a:custGeom>
                <a:avLst/>
                <a:gdLst>
                  <a:gd name="T0" fmla="*/ 31 w 229"/>
                  <a:gd name="T1" fmla="*/ 83 h 187"/>
                  <a:gd name="T2" fmla="*/ 73 w 229"/>
                  <a:gd name="T3" fmla="*/ 125 h 187"/>
                  <a:gd name="T4" fmla="*/ 198 w 229"/>
                  <a:gd name="T5" fmla="*/ 0 h 187"/>
                  <a:gd name="T6" fmla="*/ 229 w 229"/>
                  <a:gd name="T7" fmla="*/ 31 h 187"/>
                  <a:gd name="T8" fmla="*/ 73 w 229"/>
                  <a:gd name="T9" fmla="*/ 187 h 187"/>
                  <a:gd name="T10" fmla="*/ 41 w 229"/>
                  <a:gd name="T11" fmla="*/ 155 h 187"/>
                  <a:gd name="T12" fmla="*/ 0 w 229"/>
                  <a:gd name="T13" fmla="*/ 114 h 187"/>
                  <a:gd name="T14" fmla="*/ 31 w 229"/>
                  <a:gd name="T15" fmla="*/ 8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9" h="187">
                    <a:moveTo>
                      <a:pt x="31" y="83"/>
                    </a:moveTo>
                    <a:cubicBezTo>
                      <a:pt x="73" y="125"/>
                      <a:pt x="73" y="125"/>
                      <a:pt x="73" y="125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29" y="31"/>
                      <a:pt x="229" y="31"/>
                      <a:pt x="229" y="31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64" y="178"/>
                      <a:pt x="53" y="168"/>
                      <a:pt x="41" y="155"/>
                    </a:cubicBezTo>
                    <a:cubicBezTo>
                      <a:pt x="29" y="143"/>
                      <a:pt x="16" y="130"/>
                      <a:pt x="0" y="114"/>
                    </a:cubicBezTo>
                    <a:lnTo>
                      <a:pt x="31" y="8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</p:grp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B1B1EA9-861D-4E89-847D-764D652690E9}"/>
              </a:ext>
            </a:extLst>
          </p:cNvPr>
          <p:cNvSpPr/>
          <p:nvPr/>
        </p:nvSpPr>
        <p:spPr>
          <a:xfrm>
            <a:off x="199796" y="204257"/>
            <a:ext cx="7580176" cy="4862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3200" b="1" kern="0" dirty="0">
                <a:solidFill>
                  <a:srgbClr val="FF0000"/>
                </a:solidFill>
                <a:latin typeface="Vodafone Rg"/>
              </a:rPr>
              <a:t>Commissions 2.0 | </a:t>
            </a:r>
            <a:r>
              <a:rPr lang="en-US" sz="32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Vodafone Rg"/>
              </a:rPr>
              <a:t>Learning Path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328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364"/>
    </mc:Choice>
    <mc:Fallback xmlns="">
      <p:transition spd="slow" advTm="62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DDD8C0-AF20-4214-A111-9B12A8FDF9F7}"/>
              </a:ext>
            </a:extLst>
          </p:cNvPr>
          <p:cNvGrpSpPr/>
          <p:nvPr/>
        </p:nvGrpSpPr>
        <p:grpSpPr>
          <a:xfrm>
            <a:off x="480832" y="953442"/>
            <a:ext cx="11268424" cy="1010163"/>
            <a:chOff x="540819" y="1103876"/>
            <a:chExt cx="6696612" cy="850437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F13D846-718B-4C47-BEE6-F7F37163AA30}"/>
                </a:ext>
              </a:extLst>
            </p:cNvPr>
            <p:cNvSpPr/>
            <p:nvPr/>
          </p:nvSpPr>
          <p:spPr>
            <a:xfrm>
              <a:off x="806792" y="1103876"/>
              <a:ext cx="733300" cy="285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08">
                <a:defRPr/>
              </a:pPr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Data Fusion</a:t>
              </a:r>
              <a:endParaRPr 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15115D-2FB3-49F2-AC10-03CF7CF2BA25}"/>
                </a:ext>
              </a:extLst>
            </p:cNvPr>
            <p:cNvSpPr/>
            <p:nvPr/>
          </p:nvSpPr>
          <p:spPr>
            <a:xfrm>
              <a:off x="807200" y="1323162"/>
              <a:ext cx="6430231" cy="63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08">
                <a:lnSpc>
                  <a:spcPct val="140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  <a:latin typeface="Calibri" panose="020F0502020204030204" pitchFamily="34" charset="0"/>
                </a:rPr>
                <a:t>Data Fusion Training</a:t>
              </a:r>
            </a:p>
            <a:p>
              <a:pPr defTabSz="1219108">
                <a:lnSpc>
                  <a:spcPct val="140000"/>
                </a:lnSpc>
                <a:defRPr/>
              </a:pPr>
              <a:r>
                <a:rPr lang="en-US" sz="1600" dirty="0">
                  <a:hlinkClick r:id="rId4"/>
                </a:rPr>
                <a:t>Recordings GCP Data Fusion Feb-26-22 ToFeb-27-22 - Trainer Suraj - OneDrive (sharepoint.com)</a:t>
              </a:r>
              <a:endParaRPr lang="en-US" sz="1600" dirty="0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78A2E89-4DB8-4D94-8CB7-877B536CDC2A}"/>
                </a:ext>
              </a:extLst>
            </p:cNvPr>
            <p:cNvGrpSpPr/>
            <p:nvPr/>
          </p:nvGrpSpPr>
          <p:grpSpPr>
            <a:xfrm>
              <a:off x="540819" y="1170657"/>
              <a:ext cx="167623" cy="142838"/>
              <a:chOff x="14722901" y="8920529"/>
              <a:chExt cx="348861" cy="297279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28295197-005C-4A99-A097-51C01BC2C802}"/>
                  </a:ext>
                </a:extLst>
              </p:cNvPr>
              <p:cNvSpPr/>
              <p:nvPr/>
            </p:nvSpPr>
            <p:spPr>
              <a:xfrm>
                <a:off x="14722901" y="8959441"/>
                <a:ext cx="258370" cy="258367"/>
              </a:xfrm>
              <a:prstGeom prst="rect">
                <a:avLst/>
              </a:prstGeom>
              <a:noFill/>
              <a:ln w="9525">
                <a:solidFill>
                  <a:srgbClr val="25292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  <p:sp>
            <p:nvSpPr>
              <p:cNvPr id="118" name="Freeform 64">
                <a:extLst>
                  <a:ext uri="{FF2B5EF4-FFF2-40B4-BE49-F238E27FC236}">
                    <a16:creationId xmlns:a16="http://schemas.microsoft.com/office/drawing/2014/main" id="{F5C5854F-4243-4E16-88E4-2028E1881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6432" y="8920529"/>
                <a:ext cx="325330" cy="267157"/>
              </a:xfrm>
              <a:custGeom>
                <a:avLst/>
                <a:gdLst>
                  <a:gd name="T0" fmla="*/ 31 w 229"/>
                  <a:gd name="T1" fmla="*/ 83 h 187"/>
                  <a:gd name="T2" fmla="*/ 73 w 229"/>
                  <a:gd name="T3" fmla="*/ 125 h 187"/>
                  <a:gd name="T4" fmla="*/ 198 w 229"/>
                  <a:gd name="T5" fmla="*/ 0 h 187"/>
                  <a:gd name="T6" fmla="*/ 229 w 229"/>
                  <a:gd name="T7" fmla="*/ 31 h 187"/>
                  <a:gd name="T8" fmla="*/ 73 w 229"/>
                  <a:gd name="T9" fmla="*/ 187 h 187"/>
                  <a:gd name="T10" fmla="*/ 41 w 229"/>
                  <a:gd name="T11" fmla="*/ 155 h 187"/>
                  <a:gd name="T12" fmla="*/ 0 w 229"/>
                  <a:gd name="T13" fmla="*/ 114 h 187"/>
                  <a:gd name="T14" fmla="*/ 31 w 229"/>
                  <a:gd name="T15" fmla="*/ 8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9" h="187">
                    <a:moveTo>
                      <a:pt x="31" y="83"/>
                    </a:moveTo>
                    <a:cubicBezTo>
                      <a:pt x="73" y="125"/>
                      <a:pt x="73" y="125"/>
                      <a:pt x="73" y="125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29" y="31"/>
                      <a:pt x="229" y="31"/>
                      <a:pt x="229" y="31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64" y="178"/>
                      <a:pt x="53" y="168"/>
                      <a:pt x="41" y="155"/>
                    </a:cubicBezTo>
                    <a:cubicBezTo>
                      <a:pt x="29" y="143"/>
                      <a:pt x="16" y="130"/>
                      <a:pt x="0" y="114"/>
                    </a:cubicBezTo>
                    <a:lnTo>
                      <a:pt x="31" y="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D17EA9-32B3-4794-B14C-287C2CEAE258}"/>
              </a:ext>
            </a:extLst>
          </p:cNvPr>
          <p:cNvGrpSpPr/>
          <p:nvPr/>
        </p:nvGrpSpPr>
        <p:grpSpPr>
          <a:xfrm>
            <a:off x="499934" y="2393453"/>
            <a:ext cx="11241862" cy="1099945"/>
            <a:chOff x="540824" y="1912792"/>
            <a:chExt cx="4610258" cy="824959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82F8367-2C9F-4077-84A3-3F73A830B086}"/>
                </a:ext>
              </a:extLst>
            </p:cNvPr>
            <p:cNvSpPr/>
            <p:nvPr/>
          </p:nvSpPr>
          <p:spPr>
            <a:xfrm>
              <a:off x="716563" y="1912792"/>
              <a:ext cx="3265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08">
                <a:defRPr/>
              </a:pPr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P</a:t>
              </a:r>
              <a:r>
                <a:rPr lang="en-US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ython</a:t>
              </a:r>
              <a:endParaRPr 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34F8D3-8B50-46C2-9846-0726629766B3}"/>
                </a:ext>
              </a:extLst>
            </p:cNvPr>
            <p:cNvSpPr/>
            <p:nvPr/>
          </p:nvSpPr>
          <p:spPr>
            <a:xfrm>
              <a:off x="716563" y="2143165"/>
              <a:ext cx="4434519" cy="594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08">
                <a:lnSpc>
                  <a:spcPct val="140000"/>
                </a:lnSpc>
                <a:defRPr/>
              </a:pPr>
              <a:r>
                <a:rPr lang="en-US" sz="1800" b="0" i="0" u="none" strike="noStrike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Python Essential Training</a:t>
              </a:r>
              <a:r>
                <a:rPr lang="en-US" sz="1600" dirty="0"/>
                <a:t> </a:t>
              </a:r>
            </a:p>
            <a:p>
              <a:pPr defTabSz="1219108">
                <a:lnSpc>
                  <a:spcPct val="140000"/>
                </a:lnSpc>
                <a:defRPr/>
              </a:pPr>
              <a:r>
                <a:rPr lang="en-US" sz="1600" b="0" i="0" u="sng" strike="noStrike" dirty="0">
                  <a:solidFill>
                    <a:srgbClr val="0563C1"/>
                  </a:solidFill>
                  <a:effectLst/>
                  <a:latin typeface="Calibri" panose="020F0502020204030204" pitchFamily="34" charset="0"/>
                </a:rPr>
                <a:t>https://www.linkedin.com/learning/python-essential-training-2018?u=2037052</a:t>
              </a:r>
              <a:r>
                <a:rPr lang="en-US" sz="1600" dirty="0"/>
                <a:t>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8B36433-2FF9-4DAD-8A64-95743451DC7B}"/>
                </a:ext>
              </a:extLst>
            </p:cNvPr>
            <p:cNvGrpSpPr/>
            <p:nvPr/>
          </p:nvGrpSpPr>
          <p:grpSpPr>
            <a:xfrm>
              <a:off x="540824" y="1977678"/>
              <a:ext cx="124144" cy="128441"/>
              <a:chOff x="14722872" y="7809083"/>
              <a:chExt cx="258371" cy="267314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6938B0E-A235-4FBF-B97D-C5174F138D2D}"/>
                  </a:ext>
                </a:extLst>
              </p:cNvPr>
              <p:cNvSpPr/>
              <p:nvPr/>
            </p:nvSpPr>
            <p:spPr>
              <a:xfrm>
                <a:off x="14722872" y="7818028"/>
                <a:ext cx="258371" cy="258369"/>
              </a:xfrm>
              <a:prstGeom prst="rect">
                <a:avLst/>
              </a:prstGeom>
              <a:noFill/>
              <a:ln w="9525">
                <a:solidFill>
                  <a:srgbClr val="25292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  <p:sp>
            <p:nvSpPr>
              <p:cNvPr id="116" name="Freeform 64">
                <a:extLst>
                  <a:ext uri="{FF2B5EF4-FFF2-40B4-BE49-F238E27FC236}">
                    <a16:creationId xmlns:a16="http://schemas.microsoft.com/office/drawing/2014/main" id="{65B1D434-0FA8-4E9A-B48F-14A0A5C6B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6425" y="7809083"/>
                <a:ext cx="154705" cy="258369"/>
              </a:xfrm>
              <a:custGeom>
                <a:avLst/>
                <a:gdLst>
                  <a:gd name="T0" fmla="*/ 31 w 229"/>
                  <a:gd name="T1" fmla="*/ 83 h 187"/>
                  <a:gd name="T2" fmla="*/ 73 w 229"/>
                  <a:gd name="T3" fmla="*/ 125 h 187"/>
                  <a:gd name="T4" fmla="*/ 198 w 229"/>
                  <a:gd name="T5" fmla="*/ 0 h 187"/>
                  <a:gd name="T6" fmla="*/ 229 w 229"/>
                  <a:gd name="T7" fmla="*/ 31 h 187"/>
                  <a:gd name="T8" fmla="*/ 73 w 229"/>
                  <a:gd name="T9" fmla="*/ 187 h 187"/>
                  <a:gd name="T10" fmla="*/ 41 w 229"/>
                  <a:gd name="T11" fmla="*/ 155 h 187"/>
                  <a:gd name="T12" fmla="*/ 0 w 229"/>
                  <a:gd name="T13" fmla="*/ 114 h 187"/>
                  <a:gd name="T14" fmla="*/ 31 w 229"/>
                  <a:gd name="T15" fmla="*/ 8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9" h="187">
                    <a:moveTo>
                      <a:pt x="31" y="83"/>
                    </a:moveTo>
                    <a:cubicBezTo>
                      <a:pt x="73" y="125"/>
                      <a:pt x="73" y="125"/>
                      <a:pt x="73" y="125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229" y="31"/>
                      <a:pt x="229" y="31"/>
                      <a:pt x="229" y="31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64" y="178"/>
                      <a:pt x="53" y="168"/>
                      <a:pt x="41" y="155"/>
                    </a:cubicBezTo>
                    <a:cubicBezTo>
                      <a:pt x="29" y="143"/>
                      <a:pt x="16" y="130"/>
                      <a:pt x="0" y="114"/>
                    </a:cubicBezTo>
                    <a:lnTo>
                      <a:pt x="31" y="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45715" tIns="22857" rIns="45715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1219108">
                  <a:defRPr/>
                </a:pPr>
                <a:endParaRPr lang="en-US" sz="2400">
                  <a:solidFill>
                    <a:srgbClr val="5E6970"/>
                  </a:solidFill>
                  <a:latin typeface="Open Sans Light"/>
                </a:endParaRPr>
              </a:p>
            </p:txBody>
          </p:sp>
        </p:grp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B1B1EA9-861D-4E89-847D-764D652690E9}"/>
              </a:ext>
            </a:extLst>
          </p:cNvPr>
          <p:cNvSpPr/>
          <p:nvPr/>
        </p:nvSpPr>
        <p:spPr>
          <a:xfrm>
            <a:off x="199796" y="204257"/>
            <a:ext cx="7580176" cy="4862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3200" b="1" kern="0" dirty="0">
                <a:solidFill>
                  <a:srgbClr val="FF0000"/>
                </a:solidFill>
                <a:latin typeface="Vodafone Rg"/>
              </a:rPr>
              <a:t>Commissions 2.0 | </a:t>
            </a:r>
            <a:r>
              <a:rPr lang="en-US" sz="32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Vodafone Rg"/>
              </a:rPr>
              <a:t>Learning Path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13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364"/>
    </mc:Choice>
    <mc:Fallback xmlns="">
      <p:transition spd="slow" advTm="62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3|2.3|6.8|2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3|2.3|6.8|25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0402C3EC1B364CAE16BA265D1157F1" ma:contentTypeVersion="8" ma:contentTypeDescription="Create a new document." ma:contentTypeScope="" ma:versionID="9b043a837017af52f09cf862054446d9">
  <xsd:schema xmlns:xsd="http://www.w3.org/2001/XMLSchema" xmlns:xs="http://www.w3.org/2001/XMLSchema" xmlns:p="http://schemas.microsoft.com/office/2006/metadata/properties" xmlns:ns2="5f1797b4-786b-4000-b5ed-328a139c364f" xmlns:ns3="993e6643-c079-469d-aba9-2b042c7f25ce" targetNamespace="http://schemas.microsoft.com/office/2006/metadata/properties" ma:root="true" ma:fieldsID="b9910b3a5a6f27be6d9f4ec4a9410540" ns2:_="" ns3:_="">
    <xsd:import namespace="5f1797b4-786b-4000-b5ed-328a139c364f"/>
    <xsd:import namespace="993e6643-c079-469d-aba9-2b042c7f25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797b4-786b-4000-b5ed-328a139c3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3e6643-c079-469d-aba9-2b042c7f25c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FBDB71-7DA0-4E2B-8E92-4561CE698EA7}">
  <ds:schemaRefs>
    <ds:schemaRef ds:uri="http://schemas.microsoft.com/office/2006/metadata/properties"/>
    <ds:schemaRef ds:uri="http://schemas.microsoft.com/office/infopath/2007/PartnerControls"/>
    <ds:schemaRef ds:uri="29b311ba-ca98-4232-b988-b1f9e1e7e37e"/>
  </ds:schemaRefs>
</ds:datastoreItem>
</file>

<file path=customXml/itemProps2.xml><?xml version="1.0" encoding="utf-8"?>
<ds:datastoreItem xmlns:ds="http://schemas.openxmlformats.org/officeDocument/2006/customXml" ds:itemID="{8A219B9C-D44F-4766-8902-90CDEC6F67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15CD90-BF6A-4303-8111-A5BD5277C6F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Open Sans Light</vt:lpstr>
      <vt:lpstr>Vodafone Rg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Sanket Narke, Vodafone</dc:creator>
  <cp:lastModifiedBy>Amith Kumar, Vodafone</cp:lastModifiedBy>
  <cp:revision>14</cp:revision>
  <dcterms:created xsi:type="dcterms:W3CDTF">2022-09-02T11:38:23Z</dcterms:created>
  <dcterms:modified xsi:type="dcterms:W3CDTF">2022-11-07T08:31:42Z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0x0101006D0402C3EC1B364CAE16BA265D1157F1</vt:lpwstr>
  </property>
  <property fmtid="{D5CDD505-2E9C-101B-9397-08002B2CF9AE}" pid="3" name="MSIP_Label_0359f705-2ba0-454b-9cfc-6ce5bcaac040_Enabled">
    <vt:lpwstr>true</vt:lpwstr>
  </property>
  <property fmtid="{D5CDD505-2E9C-101B-9397-08002B2CF9AE}" pid="4" name="MSIP_Label_0359f705-2ba0-454b-9cfc-6ce5bcaac040_SetDate">
    <vt:lpwstr>2022-11-07T08:31:36Z</vt:lpwstr>
  </property>
  <property fmtid="{D5CDD505-2E9C-101B-9397-08002B2CF9AE}" pid="5" name="MSIP_Label_0359f705-2ba0-454b-9cfc-6ce5bcaac040_Method">
    <vt:lpwstr>Standard</vt:lpwstr>
  </property>
  <property fmtid="{D5CDD505-2E9C-101B-9397-08002B2CF9AE}" pid="6" name="MSIP_Label_0359f705-2ba0-454b-9cfc-6ce5bcaac040_Name">
    <vt:lpwstr>0359f705-2ba0-454b-9cfc-6ce5bcaac040</vt:lpwstr>
  </property>
  <property fmtid="{D5CDD505-2E9C-101B-9397-08002B2CF9AE}" pid="7" name="MSIP_Label_0359f705-2ba0-454b-9cfc-6ce5bcaac040_SiteId">
    <vt:lpwstr>68283f3b-8487-4c86-adb3-a5228f18b893</vt:lpwstr>
  </property>
  <property fmtid="{D5CDD505-2E9C-101B-9397-08002B2CF9AE}" pid="8" name="MSIP_Label_0359f705-2ba0-454b-9cfc-6ce5bcaac040_ActionId">
    <vt:lpwstr>7e0fed37-1b74-4813-8511-2a1af5b44558</vt:lpwstr>
  </property>
  <property fmtid="{D5CDD505-2E9C-101B-9397-08002B2CF9AE}" pid="9" name="MSIP_Label_0359f705-2ba0-454b-9cfc-6ce5bcaac040_ContentBits">
    <vt:lpwstr>2</vt:lpwstr>
  </property>
</Properties>
</file>